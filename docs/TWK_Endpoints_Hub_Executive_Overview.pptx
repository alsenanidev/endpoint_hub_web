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TWK Endpoints Hub brings API discovery, testing, change visibility, sharing, and governance into one working environment.</a:t>
            </a:r>
          </a:p>
          <a:p>
            <a:r>
              <a:t>Key message: the product converts fragmented API knowledge into an operational platform.</a:t>
            </a:r>
          </a:p>
          <a:p>
            <a:r>
              <a:t>Problem addressed: teams lose time navigating scattered documentation and tools.</a:t>
            </a:r>
          </a:p>
          <a:p>
            <a:r>
              <a:t>Benefit to emphasize: one place to find and act on API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product exists because API information is distributed across people, Swagger locations, testing tools, and informal documents.</a:t>
            </a:r>
          </a:p>
          <a:p>
            <a:r>
              <a:t>Key message: fragmentation creates operational friction and uncertainty.</a:t>
            </a:r>
          </a:p>
          <a:p>
            <a:r>
              <a:t>Problem addressed: slow discovery, inconsistent testing, and unclear change history.</a:t>
            </a:r>
          </a:p>
          <a:p>
            <a:r>
              <a:t>Benefit to emphasize: the platform removes repeated searching and manual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solution is a connected operating view, not just another documentation page.</a:t>
            </a:r>
          </a:p>
          <a:p>
            <a:r>
              <a:t>Key message: every important API action starts from shared context.</a:t>
            </a:r>
          </a:p>
          <a:p>
            <a:r>
              <a:t>Problem addressed: disconnected tools and stale knowledge.</a:t>
            </a:r>
          </a:p>
          <a:p>
            <a:r>
              <a:t>Benefit to emphasize: faster, more consistent decisions across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hierarchy is the product's organizing principle.</a:t>
            </a:r>
          </a:p>
          <a:p>
            <a:r>
              <a:t>Key message: context travels with the endpoint.</a:t>
            </a:r>
          </a:p>
          <a:p>
            <a:r>
              <a:t>Problem addressed: unclear ownership and environment confusion.</a:t>
            </a:r>
          </a:p>
          <a:p>
            <a:r>
              <a:t>Benefit to emphasize: teams can locate the right API and understand its operating context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Discovery is a direct user value: search, filter, open, understand.</a:t>
            </a:r>
          </a:p>
          <a:p>
            <a:r>
              <a:t>Key message: users can find an endpoint without knowing which person or repository to ask.</a:t>
            </a:r>
          </a:p>
          <a:p>
            <a:r>
              <a:t>Problem addressed: API location and metadata uncertainty.</a:t>
            </a:r>
          </a:p>
          <a:p>
            <a:r>
              <a:t>Benefit to emphasize: less time spent searching and fewer wrong-environment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Swagger sync is one of the core automation capabilities.</a:t>
            </a:r>
          </a:p>
          <a:p>
            <a:r>
              <a:t>Key message: the catalog is refreshed from source definitions and changes are classified.</a:t>
            </a:r>
          </a:p>
          <a:p>
            <a:r>
              <a:t>Problem addressed: outdated documentation and manual comparisons.</a:t>
            </a:r>
          </a:p>
          <a:p>
            <a:r>
              <a:t>Benefit to emphasize: more accurate inventory and earlier release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request runner closes the gap between understanding an API and validating it.</a:t>
            </a:r>
          </a:p>
          <a:p>
            <a:r>
              <a:t>Key message: endpoint context, environment, authentication, execution, and response live in one flow.</a:t>
            </a:r>
          </a:p>
          <a:p>
            <a:r>
              <a:t>Problem addressed: repetitive setup in separate tools.</a:t>
            </a:r>
          </a:p>
          <a:p>
            <a:r>
              <a:t>Benefit to emphasize: faster verification with a reusable request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APIs do not share one authentication pattern, so the product supports six implemented profile types.</a:t>
            </a:r>
          </a:p>
          <a:p>
            <a:r>
              <a:t>Key message: authentication becomes reusable configuration instead of repeated manual work.</a:t>
            </a:r>
          </a:p>
          <a:p>
            <a:r>
              <a:t>Problem addressed: token and header setup friction.</a:t>
            </a:r>
          </a:p>
          <a:p>
            <a:r>
              <a:t>Benefit to emphasize: quicker testing with consistent handling of credentials.</a:t>
            </a:r>
          </a:p>
          <a:p>
            <a:r>
              <a:t>Do not claim broader security certification; the code evidence supports encrypted secret storage, not a compliance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Change history is a management-friendly capability because it makes API evolution visible.</a:t>
            </a:r>
          </a:p>
          <a:p>
            <a:r>
              <a:t>Key message: changes are recorded as an understandable before-and-after story.</a:t>
            </a:r>
          </a:p>
          <a:p>
            <a:r>
              <a:t>Problem addressed: silent or manually discovered API drift.</a:t>
            </a:r>
          </a:p>
          <a:p>
            <a:r>
              <a:t>Benefit to emphasize: better release communication and fewer surprises for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Collaboration does not need a separate project or message thread. It is attached to the endpoint.</a:t>
            </a:r>
          </a:p>
          <a:p>
            <a:r>
              <a:t>Key message: sharing creates a direct path from ownership to consumption.</a:t>
            </a:r>
          </a:p>
          <a:p>
            <a:r>
              <a:t>Problem addressed: API handoffs lost in chat or personal lists.</a:t>
            </a:r>
          </a:p>
          <a:p>
            <a:r>
              <a:t>Benefit to emphasize: faster adoption and better visibility of shared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Embedded Tests are useful for fast validation and edge cases that are not yet represented in the endpoint catalog.</a:t>
            </a:r>
          </a:p>
          <a:p>
            <a:r>
              <a:t>Key message: the platform supports both structured catalog testing and quick exploratory testing.</a:t>
            </a:r>
          </a:p>
          <a:p>
            <a:r>
              <a:t>Problem addressed: waiting for full setup before a basic API check.</a:t>
            </a:r>
          </a:p>
          <a:p>
            <a:r>
              <a:t>Benefit to emphasize: shorter feedback loops during troubleshooting and integration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Governance is not a static policy document; the implementation models standards, rules, assignments, validation, and results.</a:t>
            </a:r>
          </a:p>
          <a:p>
            <a:r>
              <a:t>Key message: organizational expectations can become repeatable checks.</a:t>
            </a:r>
          </a:p>
          <a:p>
            <a:r>
              <a:t>Problem addressed: inconsistent API quality and manual compliance review.</a:t>
            </a:r>
          </a:p>
          <a:p>
            <a:r>
              <a:t>Benefit to emphasize: measurable standards that can be applied at the right organizational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Compliance becomes useful when it points to a specific endpoint, rule, severity, and next action.</a:t>
            </a:r>
          </a:p>
          <a:p>
            <a:r>
              <a:t>Key message: reporting supports remediation, not just scoring.</a:t>
            </a:r>
          </a:p>
          <a:p>
            <a:r>
              <a:t>Problem addressed: standards that are difficult to measure or act on.</a:t>
            </a:r>
          </a:p>
          <a:p>
            <a:r>
              <a:t>Benefit to emphasize: clearer prioritization for API owners and governance teams.</a:t>
            </a:r>
          </a:p>
          <a:p>
            <a:r>
              <a:t>The 87% figure is illustrative for the visual; the implementation supports score reporting but does not establish an organizational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dashboard is the management lens over the operational catalog.</a:t>
            </a:r>
          </a:p>
          <a:p>
            <a:r>
              <a:t>Key message: inventory and movement are visible without opening individual systems.</a:t>
            </a:r>
          </a:p>
          <a:p>
            <a:r>
              <a:t>Problem addressed: lack of centralized API landscape visibility.</a:t>
            </a:r>
          </a:p>
          <a:p>
            <a:r>
              <a:t>Benefit to emphasize: quicker prioritization and earlier awareness of sync problems or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Different roles use different slices of the same product, which is what makes centralization valuable.</a:t>
            </a:r>
          </a:p>
          <a:p>
            <a:r>
              <a:t>Key message: the product connects delivery, quality, ownership, and management visibility.</a:t>
            </a:r>
          </a:p>
          <a:p>
            <a:r>
              <a:t>Problem addressed: role-specific information silos.</a:t>
            </a:r>
          </a:p>
          <a:p>
            <a:r>
              <a:t>Benefit to emphasize: a shared operating language across the API lifecycle.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end-to-end story management should remember. A release becomes discoverable, testable, shareable, traceable, and governable.</a:t>
            </a:r>
          </a:p>
          <a:p>
            <a:r>
              <a:t>Key message: the value comes from the connected flow, not one isolated screen.</a:t>
            </a:r>
          </a:p>
          <a:p>
            <a:r>
              <a:t>Problem addressed: handoffs that lose context between release and adoption.</a:t>
            </a:r>
          </a:p>
          <a:p>
            <a:r>
              <a:t>Benefit to emphasize: a shorter path from API release to confident organizational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Credibility matters, so this presentation separates working capabilities from future potential.</a:t>
            </a:r>
          </a:p>
          <a:p>
            <a:r>
              <a:t>Key message: the product is already a substantial internal platform, while the roadmap remains open.</a:t>
            </a:r>
          </a:p>
          <a:p>
            <a:r>
              <a:t>Problem addressed: overclaiming maturity or presenting ideas as delivered features.</a:t>
            </a:r>
          </a:p>
          <a:p>
            <a:r>
              <a:t>Benefit to emphasize: stakeholders can evaluate the current value and discuss the next investment areas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Close by returning to the business story. TWK Endpoints Hub centralizes API knowledge and turns it into faster action and clearer governance.</a:t>
            </a:r>
          </a:p>
          <a:p>
            <a:r>
              <a:t>Key message: this is organizational leverage built on practical developer workflows.</a:t>
            </a:r>
          </a:p>
          <a:p>
            <a:r>
              <a:t>Problem addressed: fragmented knowledge, manual effort, and limited visibility.</a:t>
            </a:r>
          </a:p>
          <a:p>
            <a:r>
              <a:t>Benefit to emphasize: a common platform for discovery, delivery, collaboration,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A clearer way to work with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A3B2C1"/>
                </a:solidFill>
                <a:latin typeface="Aptos"/>
              </a:rPr>
              <a:t>TWK ENDPOINTS HUB  /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58368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TWK Endpoints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23160"/>
            <a:ext cx="58521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5B8C4"/>
                </a:solidFill>
                <a:latin typeface="Aptos Display"/>
              </a:rPr>
              <a:t>Discover. Test. Track. Govern.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3035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FDCE5"/>
                </a:solidFill>
                <a:latin typeface="Aptos"/>
              </a:rPr>
              <a:t>A centralized platform for turning scattered API knowledge into a shared, usable operating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1207008" cy="292608"/>
          </a:xfrm>
          <a:prstGeom prst="round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10812"/>
            <a:ext cx="12070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DISCOVER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967" y="4160520"/>
            <a:ext cx="1207008" cy="292608"/>
          </a:xfrm>
          <a:prstGeom prst="round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7" y="4210812"/>
            <a:ext cx="12070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4160520"/>
            <a:ext cx="1207008" cy="292608"/>
          </a:xfrm>
          <a:prstGeom prst="round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4210812"/>
            <a:ext cx="12070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9744" y="4160520"/>
            <a:ext cx="1207008" cy="292608"/>
          </a:xfrm>
          <a:prstGeom prst="round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4210812"/>
            <a:ext cx="120700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GOVERN</a:t>
            </a:r>
          </a:p>
        </p:txBody>
      </p:sp>
      <p:sp>
        <p:nvSpPr>
          <p:cNvPr id="17" name="Arc 16"/>
          <p:cNvSpPr/>
          <p:nvPr/>
        </p:nvSpPr>
        <p:spPr>
          <a:xfrm>
            <a:off x="7863840" y="1417320"/>
            <a:ext cx="3108960" cy="3108960"/>
          </a:xfrm>
          <a:prstGeom prst="arc">
            <a:avLst/>
          </a:prstGeom>
          <a:solidFill>
            <a:srgbClr val="0D1C30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1828800"/>
            <a:ext cx="1828800" cy="502920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1828800"/>
            <a:ext cx="1828800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1975104"/>
            <a:ext cx="168249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606040"/>
            <a:ext cx="1828800" cy="502920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9640" y="2606040"/>
            <a:ext cx="1828800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2752344"/>
            <a:ext cx="168249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49640" y="3383280"/>
            <a:ext cx="1828800" cy="502920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49640" y="3383280"/>
            <a:ext cx="1828800" cy="54864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22792" y="3529584"/>
            <a:ext cx="168249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4160520"/>
            <a:ext cx="1828800" cy="502920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49640" y="4160520"/>
            <a:ext cx="182880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22792" y="4306824"/>
            <a:ext cx="1682496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API work is fragmented before it becomes manageable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69494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The cost is not only technical. It is the time and uncertainty between a question and a reliable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64008" cy="960120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21992"/>
            <a:ext cx="2395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Team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24328"/>
            <a:ext cx="23957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Who owns this API?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205740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2057400"/>
            <a:ext cx="64008" cy="960120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221992"/>
            <a:ext cx="2395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Swagger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2624328"/>
            <a:ext cx="23957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Which URL is current?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8328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83280"/>
            <a:ext cx="64008" cy="96012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547872"/>
            <a:ext cx="2395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Testing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950208"/>
            <a:ext cx="23957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How do I authenticate?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38328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4760" y="3383280"/>
            <a:ext cx="64008" cy="960120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3547872"/>
            <a:ext cx="2395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Chat &amp;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928" y="3950208"/>
            <a:ext cx="23957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What changed since last release?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417320"/>
            <a:ext cx="914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6F5C"/>
                </a:solidFill>
                <a:latin typeface="Aptos"/>
              </a:rPr>
              <a:t>BEFORE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1874519"/>
            <a:ext cx="1508760" cy="438912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5240" y="1874519"/>
            <a:ext cx="150876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8392" y="2020824"/>
            <a:ext cx="13624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8273A"/>
                </a:solidFill>
                <a:latin typeface="Aptos"/>
              </a:rPr>
              <a:t>Teams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59" y="1874519"/>
            <a:ext cx="1508760" cy="438912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9759" y="1874519"/>
            <a:ext cx="150876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911" y="2020824"/>
            <a:ext cx="13624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8273A"/>
                </a:solidFill>
                <a:latin typeface="Aptos"/>
              </a:rPr>
              <a:t>Swagger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85048" y="2313432"/>
            <a:ext cx="1874519" cy="0"/>
          </a:xfrm>
          <a:prstGeom prst="line">
            <a:avLst/>
          </a:prstGeom>
          <a:ln w="15240">
            <a:solidFill>
              <a:srgbClr val="F2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35240" y="2743200"/>
            <a:ext cx="1508760" cy="438912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35240" y="2743200"/>
            <a:ext cx="150876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8392" y="2889504"/>
            <a:ext cx="13624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8273A"/>
                </a:solidFill>
                <a:latin typeface="Aptos"/>
              </a:rPr>
              <a:t>Postman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385048" y="2313432"/>
            <a:ext cx="1874519" cy="868679"/>
          </a:xfrm>
          <a:prstGeom prst="line">
            <a:avLst/>
          </a:prstGeom>
          <a:ln w="15240">
            <a:solidFill>
              <a:srgbClr val="F2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09759" y="2743200"/>
            <a:ext cx="1508760" cy="438912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59" y="2743200"/>
            <a:ext cx="150876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2911" y="2889504"/>
            <a:ext cx="13624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8273A"/>
                </a:solidFill>
                <a:latin typeface="Aptos"/>
              </a:rPr>
              <a:t>Excel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85048" y="3182111"/>
            <a:ext cx="1874519" cy="0"/>
          </a:xfrm>
          <a:prstGeom prst="line">
            <a:avLst/>
          </a:prstGeom>
          <a:ln w="15240">
            <a:solidFill>
              <a:srgbClr val="F2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635240" y="3611879"/>
            <a:ext cx="1508760" cy="438912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35240" y="3611879"/>
            <a:ext cx="150876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3758183"/>
            <a:ext cx="13624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8273A"/>
                </a:solidFill>
                <a:latin typeface="Aptos"/>
              </a:rPr>
              <a:t>Chat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8385048" y="3182111"/>
            <a:ext cx="1874519" cy="868680"/>
          </a:xfrm>
          <a:prstGeom prst="line">
            <a:avLst/>
          </a:prstGeom>
          <a:ln w="15240">
            <a:solidFill>
              <a:srgbClr val="F2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509759" y="3611879"/>
            <a:ext cx="1508760" cy="438912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09759" y="3611879"/>
            <a:ext cx="150876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82911" y="3758183"/>
            <a:ext cx="1362456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18273A"/>
                </a:solidFill>
                <a:latin typeface="Aptos"/>
              </a:rPr>
              <a:t>Memory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85048" y="4050791"/>
            <a:ext cx="1874519" cy="0"/>
          </a:xfrm>
          <a:prstGeom prst="line">
            <a:avLst/>
          </a:prstGeom>
          <a:ln w="15240">
            <a:solidFill>
              <a:srgbClr val="F2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35240" y="4937760"/>
            <a:ext cx="3749039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The same API question is answered repeatedly, by different people, with different levels of confidence.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One operating view for the API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040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TWK Endpoints Hub connects ownership, structure, definitions, testing, change, and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1298448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1298448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478024"/>
            <a:ext cx="1152144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Teams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84248" y="2670048"/>
            <a:ext cx="237743" cy="0"/>
          </a:xfrm>
          <a:prstGeom prst="line">
            <a:avLst/>
          </a:prstGeom>
          <a:ln w="1651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58568" y="2331720"/>
            <a:ext cx="1298448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58568" y="2331720"/>
            <a:ext cx="1298448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478024"/>
            <a:ext cx="1152144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Systems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57015" y="2670048"/>
            <a:ext cx="237744" cy="0"/>
          </a:xfrm>
          <a:prstGeom prst="line">
            <a:avLst/>
          </a:prstGeom>
          <a:ln w="1651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31335" y="2331720"/>
            <a:ext cx="1298448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31335" y="2331720"/>
            <a:ext cx="1298448" cy="54864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478024"/>
            <a:ext cx="1152144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Environments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9783" y="2670048"/>
            <a:ext cx="237744" cy="0"/>
          </a:xfrm>
          <a:prstGeom prst="line">
            <a:avLst/>
          </a:prstGeom>
          <a:ln w="1651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04104" y="2331720"/>
            <a:ext cx="1298448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4104" y="2331720"/>
            <a:ext cx="1298448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7256" y="2478024"/>
            <a:ext cx="1152144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Swagger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02552" y="2670048"/>
            <a:ext cx="237744" cy="0"/>
          </a:xfrm>
          <a:prstGeom prst="line">
            <a:avLst/>
          </a:prstGeom>
          <a:ln w="1651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76872" y="2331720"/>
            <a:ext cx="1298448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76872" y="2331720"/>
            <a:ext cx="1298448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0024" y="2478024"/>
            <a:ext cx="1152144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Endpoints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75320" y="2670048"/>
            <a:ext cx="237744" cy="0"/>
          </a:xfrm>
          <a:prstGeom prst="line">
            <a:avLst/>
          </a:prstGeom>
          <a:ln w="1651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549640" y="2331720"/>
            <a:ext cx="1298448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9640" y="2331720"/>
            <a:ext cx="1298448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22792" y="2478024"/>
            <a:ext cx="1152144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Testing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48088" y="2670048"/>
            <a:ext cx="237744" cy="0"/>
          </a:xfrm>
          <a:prstGeom prst="line">
            <a:avLst/>
          </a:prstGeom>
          <a:ln w="1651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22408" y="2331720"/>
            <a:ext cx="1298448" cy="6766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22408" y="2331720"/>
            <a:ext cx="1298448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2478024"/>
            <a:ext cx="1152144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Governance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069080"/>
            <a:ext cx="3337560" cy="1078992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069080"/>
            <a:ext cx="64008" cy="1078992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233672"/>
            <a:ext cx="29900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Find the right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4636008"/>
            <a:ext cx="2990088" cy="411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Search by system, environment, tag, or endpoint details.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4069080"/>
            <a:ext cx="3337560" cy="1078992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4069080"/>
            <a:ext cx="64008" cy="1078992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6007" y="4233672"/>
            <a:ext cx="29900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Act with confidence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6007" y="4636008"/>
            <a:ext cx="2990088" cy="411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Use reusable auth profiles and run requests from the catalog.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4069080"/>
            <a:ext cx="3337560" cy="1078992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4069080"/>
            <a:ext cx="64008" cy="1078992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8" y="4233672"/>
            <a:ext cx="299008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See and improve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8" y="4636008"/>
            <a:ext cx="2990088" cy="411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Track changes, share knowledge, and validate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The product model makes ownership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A simple hierarchy answers the questions people ask first: who owns it, where does it run, and what does it expose?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1645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71216"/>
            <a:ext cx="1645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Payments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944368"/>
            <a:ext cx="237744" cy="0"/>
          </a:xfrm>
          <a:prstGeom prst="line">
            <a:avLst/>
          </a:prstGeom>
          <a:ln w="25400">
            <a:solidFill>
              <a:srgbClr val="25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80" y="237744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578608"/>
            <a:ext cx="1645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75CDA5"/>
                </a:solidFill>
                <a:latin typeface="Aptos"/>
              </a:rPr>
              <a:t>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71216"/>
            <a:ext cx="1645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Payment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944368"/>
            <a:ext cx="237744" cy="0"/>
          </a:xfrm>
          <a:prstGeom prst="line">
            <a:avLst/>
          </a:prstGeom>
          <a:ln w="25400">
            <a:solidFill>
              <a:srgbClr val="75CD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237744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2578608"/>
            <a:ext cx="1645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BE4C"/>
                </a:solidFill>
                <a:latin typeface="Aptos"/>
              </a:rPr>
              <a:t>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871216"/>
            <a:ext cx="1645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Production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86600" y="2944368"/>
            <a:ext cx="237744" cy="0"/>
          </a:xfrm>
          <a:prstGeom prst="line">
            <a:avLst/>
          </a:prstGeom>
          <a:ln w="25400">
            <a:solidFill>
              <a:srgbClr val="F2B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237744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578608"/>
            <a:ext cx="1645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871216"/>
            <a:ext cx="1645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Swagger v2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0" y="2944368"/>
            <a:ext cx="237744" cy="0"/>
          </a:xfrm>
          <a:prstGeom prst="line">
            <a:avLst/>
          </a:prstGeom>
          <a:ln w="25400">
            <a:solidFill>
              <a:srgbClr val="F2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237744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578608"/>
            <a:ext cx="1645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871216"/>
            <a:ext cx="16459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73A"/>
                </a:solidFill>
                <a:latin typeface="Aptos Display"/>
              </a:rPr>
              <a:t>GET /api/payments/{id}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B8C4"/>
                </a:solidFill>
                <a:latin typeface="Aptos"/>
              </a:rPr>
              <a:t>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42519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E4C"/>
                </a:solidFill>
                <a:latin typeface="Aptos"/>
              </a:rPr>
              <a:t>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2519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6F5C"/>
                </a:solidFill>
                <a:latin typeface="Aptos"/>
              </a:rPr>
              <a:t>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519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5CDA5"/>
                </a:solidFill>
                <a:latin typeface="Aptos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969264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0D1C30"/>
                </a:solidFill>
                <a:latin typeface="Aptos Display"/>
              </a:rPr>
              <a:t>The hierarchy turns an endpoint from an isolated URL into an owned, contextual asset.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Discovery moves from asking around to searching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406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Endpoint discovery combines catalog structure with rich metadata and filters.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66294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212848"/>
            <a:ext cx="6080760" cy="502920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59152"/>
            <a:ext cx="4480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Search endpoints, systems, tags...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71800"/>
            <a:ext cx="1005840" cy="292608"/>
          </a:xfrm>
          <a:prstGeom prst="roundRect">
            <a:avLst/>
          </a:prstGeom>
          <a:solidFill>
            <a:srgbClr val="FFF6DA"/>
          </a:solidFill>
          <a:ln>
            <a:solidFill>
              <a:srgbClr val="FFF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22092"/>
            <a:ext cx="1005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2971800"/>
            <a:ext cx="960120" cy="292608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3022092"/>
            <a:ext cx="9601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971800"/>
            <a:ext cx="640080" cy="292608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3022092"/>
            <a:ext cx="6400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8C4"/>
                </a:solidFill>
                <a:latin typeface="Aptos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20440"/>
            <a:ext cx="2971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/api/payments/{id}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20440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6F5C"/>
                </a:solidFill>
                <a:latin typeface="Aptos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023360"/>
            <a:ext cx="2971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/api/payments/refund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023360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26280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8C4"/>
                </a:solidFill>
                <a:latin typeface="Aptos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2971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/api/payments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526280"/>
            <a:ext cx="10972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Staging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05740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B8C4"/>
                </a:solidFill>
                <a:latin typeface="Aptos"/>
              </a:rPr>
              <a:t>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057400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5B6C7E"/>
                </a:solidFill>
                <a:latin typeface="Aptos Display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057400"/>
            <a:ext cx="10058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5CDA5"/>
                </a:solidFill>
                <a:latin typeface="Aptos"/>
              </a:rPr>
              <a:t>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2057400"/>
            <a:ext cx="365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5B6C7E"/>
                </a:solidFill>
                <a:latin typeface="Aptos Display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2057400"/>
            <a:ext cx="594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6F5C"/>
                </a:solidFill>
                <a:latin typeface="Aptos"/>
              </a:rPr>
              <a:t>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926080"/>
            <a:ext cx="3246120" cy="1051560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2926080"/>
            <a:ext cx="64008" cy="1051560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2168" y="309067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Rich endpoint detail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493008"/>
            <a:ext cx="2898648" cy="3840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Parameters, headers, request bodies, responses, examples, and deprecation state.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251960"/>
            <a:ext cx="3246120" cy="1051560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0" y="4251960"/>
            <a:ext cx="64008" cy="105156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8" y="441655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A shared answer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4818888"/>
            <a:ext cx="2898648" cy="3840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The endpoint catalog reduces dependency on personal memory and chat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Swagger synchronization keeps the catalog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412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The sync engine turns an API definition into a maintained inventory and a visible change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1600200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95144"/>
            <a:ext cx="1453896" cy="45719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8273A"/>
                </a:solidFill>
                <a:latin typeface="Aptos"/>
              </a:rPr>
              <a:t>Swagger URL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468880"/>
            <a:ext cx="484632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14884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2148840"/>
            <a:ext cx="1600200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2295144"/>
            <a:ext cx="1453896" cy="45719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8273A"/>
                </a:solidFill>
                <a:latin typeface="Aptos"/>
              </a:rPr>
              <a:t>Parse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468880"/>
            <a:ext cx="484632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74920" y="214884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2148840"/>
            <a:ext cx="1600200" cy="54864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2295144"/>
            <a:ext cx="1453896" cy="45719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8273A"/>
                </a:solidFill>
                <a:latin typeface="Aptos"/>
              </a:rPr>
              <a:t>Compare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75120" y="2468880"/>
            <a:ext cx="484632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69479" y="214884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79" y="2148840"/>
            <a:ext cx="160020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1" y="2295144"/>
            <a:ext cx="1453896" cy="45719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8273A"/>
                </a:solidFill>
                <a:latin typeface="Aptos"/>
              </a:rPr>
              <a:t>Update catalog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69680" y="2468880"/>
            <a:ext cx="484631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64040" y="2148840"/>
            <a:ext cx="1600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64040" y="2148840"/>
            <a:ext cx="1600200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2" y="2295144"/>
            <a:ext cx="1453896" cy="45719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8273A"/>
                </a:solidFill>
                <a:latin typeface="Aptos"/>
              </a:rPr>
              <a:t>Notify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57600"/>
            <a:ext cx="1143000" cy="292608"/>
          </a:xfrm>
          <a:prstGeom prst="round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07891"/>
            <a:ext cx="1143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NEW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1480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new endpoint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3657600"/>
            <a:ext cx="1143000" cy="292608"/>
          </a:xfrm>
          <a:prstGeom prst="round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707891"/>
            <a:ext cx="1143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MODIFIED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11480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definition 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79" y="3657600"/>
            <a:ext cx="1143000" cy="292608"/>
          </a:xfrm>
          <a:prstGeom prst="round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79" y="3707891"/>
            <a:ext cx="1143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DELETED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79" y="411480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no longer present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3999" y="3657600"/>
            <a:ext cx="1143000" cy="292608"/>
          </a:xfrm>
          <a:prstGeom prst="round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3999" y="3707891"/>
            <a:ext cx="11430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D1C30"/>
                </a:solidFill>
                <a:latin typeface="Aptos"/>
              </a:rPr>
              <a:t>UNCHANGED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99" y="411480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B6C7E"/>
                </a:solidFill>
                <a:latin typeface="Aptos"/>
              </a:rPr>
              <a:t>no action needed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800600"/>
            <a:ext cx="5074920" cy="749808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800600"/>
            <a:ext cx="64008" cy="749808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4965192"/>
            <a:ext cx="47274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Scheduled operation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" y="5367528"/>
            <a:ext cx="4727448" cy="822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Hangfire-backed recurring sync with status and error logs.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00600"/>
            <a:ext cx="5074920" cy="749808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800600"/>
            <a:ext cx="64008" cy="749808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4965192"/>
            <a:ext cx="47274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Operational value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5367528"/>
            <a:ext cx="4727448" cy="822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Less manual documentation work and earlier visibility into API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Testing is part of the catalog, not a separate ritual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686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A user can move from endpoint context to an executed request without rebuilding the setup elsewhere.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ENDPOINT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911095"/>
            <a:ext cx="3200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1993391"/>
            <a:ext cx="2834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GET /api/payments/{id}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2350008"/>
            <a:ext cx="0" cy="146304"/>
          </a:xfrm>
          <a:prstGeom prst="line">
            <a:avLst/>
          </a:prstGeom>
          <a:ln w="1397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587752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BE4C"/>
                </a:solidFill>
                <a:latin typeface="Aptos"/>
              </a:rPr>
              <a:t>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532888"/>
            <a:ext cx="3200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615184"/>
            <a:ext cx="2834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Production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39" y="2971800"/>
            <a:ext cx="0" cy="146304"/>
          </a:xfrm>
          <a:prstGeom prst="line">
            <a:avLst/>
          </a:prstGeom>
          <a:ln w="1397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209544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75CDA5"/>
                </a:solidFill>
                <a:latin typeface="Aptos"/>
              </a:rPr>
              <a:t>AUTH 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3154679"/>
            <a:ext cx="3200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3236975"/>
            <a:ext cx="2834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Payment bearer token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9039" y="3593591"/>
            <a:ext cx="0" cy="146305"/>
          </a:xfrm>
          <a:prstGeom prst="line">
            <a:avLst/>
          </a:prstGeom>
          <a:ln w="1397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3831335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PARAMETERS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3776472"/>
            <a:ext cx="3200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3858768"/>
            <a:ext cx="2834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id = 4821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39" y="4215383"/>
            <a:ext cx="0" cy="146305"/>
          </a:xfrm>
          <a:prstGeom prst="line">
            <a:avLst/>
          </a:prstGeom>
          <a:ln w="1397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4453128"/>
            <a:ext cx="13258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EXECUTE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4398264"/>
            <a:ext cx="32004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480560"/>
            <a:ext cx="28346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Response + history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965960"/>
            <a:ext cx="4800600" cy="3246120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331720"/>
            <a:ext cx="11887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75CDA5"/>
                </a:solidFill>
                <a:latin typeface="Aptos Display"/>
              </a:rPr>
              <a:t>200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414016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>
                <a:solidFill>
                  <a:srgbClr val="B2C5D0"/>
                </a:solidFill>
                <a:latin typeface="Aptos"/>
              </a:rPr>
              <a:t>response time 184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063240"/>
            <a:ext cx="35661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scadia Mono"/>
              </a:rPr>
              <a:t>{
  "paymentId": 4821,
  "status": "captured",
  "amount": 125.00
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709160"/>
            <a:ext cx="3566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B8C4"/>
                </a:solidFill>
                <a:latin typeface="Aptos"/>
              </a:rPr>
              <a:t>Request history preserves what was run and when.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Reusable authentication removes repetitive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686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Auth Profiles support the real-world variety of internal APIs while keeping request execution consistent.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246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64008" cy="82296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No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78608"/>
            <a:ext cx="289864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public / internal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11680"/>
            <a:ext cx="3246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64008" cy="822960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17627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Bearer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578608"/>
            <a:ext cx="289864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static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246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011680"/>
            <a:ext cx="64008" cy="822960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17627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API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578608"/>
            <a:ext cx="289864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header-based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54680"/>
            <a:ext cx="3246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54680"/>
            <a:ext cx="64008" cy="822960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31927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Basic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721608"/>
            <a:ext cx="289864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user + password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154680"/>
            <a:ext cx="3246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154680"/>
            <a:ext cx="64008" cy="82296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7" y="331927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Custom Header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721608"/>
            <a:ext cx="289864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arbitrary header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154680"/>
            <a:ext cx="3246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154680"/>
            <a:ext cx="64008" cy="822960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331927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Auto 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3721608"/>
            <a:ext cx="289864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login → extract → inject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00600"/>
            <a:ext cx="100584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D1C30"/>
                </a:solidFill>
                <a:latin typeface="Aptos Display"/>
              </a:rPr>
              <a:t>Auth profiles are reusable, testable, and stored with encrypted secrets in the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Change history turns drift into a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046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Instead of comparing files manually, users can see what changed on an endpoint and when.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914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B6C7E"/>
                </a:solidFill>
                <a:latin typeface="Aptos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4389120" cy="1325880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16352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273A"/>
                </a:solidFill>
                <a:latin typeface="Cascadia Mono"/>
              </a:rPr>
              <a:t>GET /orders/{id}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73552"/>
            <a:ext cx="3200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schema snapshot · 12 Jun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057400"/>
            <a:ext cx="11887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BE4C"/>
                </a:solidFill>
                <a:latin typeface="Aptos"/>
              </a:rPr>
              <a:t>MODIFIED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377440"/>
            <a:ext cx="4892040" cy="1325880"/>
          </a:xfrm>
          <a:prstGeom prst="roundRect">
            <a:avLst/>
          </a:prstGeom>
          <a:solidFill>
            <a:srgbClr val="FFF6DA"/>
          </a:solidFill>
          <a:ln>
            <a:solidFill>
              <a:srgbClr val="FFF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816352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8273A"/>
                </a:solidFill>
                <a:latin typeface="Cascadia Mono"/>
              </a:rPr>
              <a:t>GET /orders/{orderId}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73552"/>
            <a:ext cx="32004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schema snapshot · 18 Jun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57800" y="3017520"/>
            <a:ext cx="228600" cy="0"/>
          </a:xfrm>
          <a:prstGeom prst="line">
            <a:avLst/>
          </a:prstGeom>
          <a:ln w="25400">
            <a:solidFill>
              <a:srgbClr val="F26F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4480560"/>
            <a:ext cx="3200400" cy="822960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480560"/>
            <a:ext cx="64008" cy="822960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645152"/>
            <a:ext cx="28529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5047488"/>
            <a:ext cx="285292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Path, method, metadata, and schema snapshots are available to inspect.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480560"/>
            <a:ext cx="3200400" cy="822960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480560"/>
            <a:ext cx="64008" cy="82296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4645152"/>
            <a:ext cx="28529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Who needs to know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5047488"/>
            <a:ext cx="285292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Teams can react to change without rediscovering the API context.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480560"/>
            <a:ext cx="3200400" cy="822960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480560"/>
            <a:ext cx="64008" cy="822960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645152"/>
            <a:ext cx="28529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Why it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047488"/>
            <a:ext cx="2852928" cy="155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Release awareness becomes visible and traceable.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Collaboration is built around the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91440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Favorites, sharing, and real-time notifications create a lightweight handoff between API owners and consumers.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1920240" cy="914400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286000"/>
            <a:ext cx="1920240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32304"/>
            <a:ext cx="1773936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8273A"/>
                </a:solidFill>
                <a:latin typeface="Aptos"/>
              </a:rPr>
              <a:t>Team A
owns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2743200"/>
            <a:ext cx="868680" cy="0"/>
          </a:xfrm>
          <a:prstGeom prst="line">
            <a:avLst/>
          </a:prstGeom>
          <a:ln w="25400">
            <a:solidFill>
              <a:srgbClr val="25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2286000"/>
            <a:ext cx="2057400" cy="914400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2286000"/>
            <a:ext cx="2057400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432304"/>
            <a:ext cx="1911095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8273A"/>
                </a:solidFill>
                <a:latin typeface="Aptos"/>
              </a:rPr>
              <a:t>Share endpoint
with Team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2743200"/>
            <a:ext cx="868680" cy="0"/>
          </a:xfrm>
          <a:prstGeom prst="line">
            <a:avLst/>
          </a:prstGeom>
          <a:ln w="25400">
            <a:solidFill>
              <a:srgbClr val="75CD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20840" y="2286000"/>
            <a:ext cx="1828800" cy="914400"/>
          </a:xfrm>
          <a:prstGeom prst="roundRect">
            <a:avLst/>
          </a:prstGeom>
          <a:solidFill>
            <a:srgbClr val="FFF6DA"/>
          </a:solidFill>
          <a:ln>
            <a:solidFill>
              <a:srgbClr val="FFF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2286000"/>
            <a:ext cx="1828800" cy="54864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432304"/>
            <a:ext cx="1682496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8273A"/>
                </a:solidFill>
                <a:latin typeface="Aptos"/>
              </a:rPr>
              <a:t>Notification
arrives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80" y="2743200"/>
            <a:ext cx="777240" cy="0"/>
          </a:xfrm>
          <a:prstGeom prst="line">
            <a:avLst/>
          </a:prstGeom>
          <a:ln w="25400">
            <a:solidFill>
              <a:srgbClr val="F2B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64040" y="2286000"/>
            <a:ext cx="1737360" cy="914400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64040" y="2286000"/>
            <a:ext cx="173736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7192" y="2432304"/>
            <a:ext cx="1591056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18273A"/>
                </a:solidFill>
                <a:latin typeface="Aptos"/>
              </a:rPr>
              <a:t>Team B
tests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114800"/>
            <a:ext cx="3246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114800"/>
            <a:ext cx="64008" cy="86868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427939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Favorites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681728"/>
            <a:ext cx="2898648" cy="2011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keep important endpoints close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114800"/>
            <a:ext cx="3246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4114800"/>
            <a:ext cx="64008" cy="868680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427939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Sharing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4681728"/>
            <a:ext cx="2898648" cy="2011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target users or teams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114800"/>
            <a:ext cx="32461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4114800"/>
            <a:ext cx="64008" cy="868680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4279392"/>
            <a:ext cx="28986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Notifications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4681728"/>
            <a:ext cx="2898648" cy="2011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real-time signal + unread state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A lightweight escape hatch for fast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Embedded Tests support arbitrary HTTP requests when a user needs to validate a URL before building a full catalog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3949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2240280"/>
            <a:ext cx="3749039" cy="347472"/>
          </a:xfrm>
          <a:prstGeom prst="round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2313432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273A"/>
                </a:solidFill>
                <a:latin typeface="Aptos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07792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862072"/>
            <a:ext cx="3749039" cy="347472"/>
          </a:xfrm>
          <a:prstGeom prst="round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935224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8273A"/>
                </a:solidFill>
                <a:latin typeface="Aptos"/>
              </a:rPr>
              <a:t>https://api.example.test/health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29584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483864"/>
            <a:ext cx="3749039" cy="347472"/>
          </a:xfrm>
          <a:prstGeom prst="round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3557016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8273A"/>
                </a:solidFill>
                <a:latin typeface="Aptos"/>
              </a:rPr>
              <a:t>••••••••••••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51376"/>
            <a:ext cx="822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BODY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4105656"/>
            <a:ext cx="3749039" cy="347472"/>
          </a:xfrm>
          <a:prstGeom prst="round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4178808"/>
            <a:ext cx="33832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8273A"/>
                </a:solidFill>
                <a:latin typeface="Cascadia Mono"/>
              </a:rPr>
              <a:t>{ "check": "deep"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965960"/>
            <a:ext cx="4297680" cy="3246120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42316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75CDA5"/>
                </a:solidFill>
                <a:latin typeface="Aptos Display"/>
              </a:rPr>
              <a:t>200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71800"/>
            <a:ext cx="32918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Signed request supported for HMAC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977639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4D5DE"/>
                </a:solidFill>
                <a:latin typeface="Aptos"/>
              </a:rPr>
              <a:t>Save and reuse test cases when a quick check becomes a repeatable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Governance turns standards into executable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95097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The governance pipeline is explicit: define standards, assign scope, validate endpoints, and report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1627632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95144"/>
            <a:ext cx="148132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Define
standard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13432" y="2560320"/>
            <a:ext cx="466344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8" y="214884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8648" y="2148840"/>
            <a:ext cx="1627632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295144"/>
            <a:ext cx="148132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Create
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2560320"/>
            <a:ext cx="466344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1496" y="214884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11496" y="2148840"/>
            <a:ext cx="1627632" cy="54864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295144"/>
            <a:ext cx="148132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Assign
target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39128" y="2560320"/>
            <a:ext cx="466344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24344" y="214884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4344" y="2148840"/>
            <a:ext cx="1627632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2295144"/>
            <a:ext cx="148132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Run
validation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51976" y="2560320"/>
            <a:ext cx="466344" cy="0"/>
          </a:xfrm>
          <a:prstGeom prst="line">
            <a:avLst/>
          </a:prstGeom>
          <a:ln w="17780">
            <a:solidFill>
              <a:srgbClr val="5B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37192" y="2148840"/>
            <a:ext cx="16276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37192" y="2148840"/>
            <a:ext cx="1627632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0344" y="2295144"/>
            <a:ext cx="148132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Report
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03320"/>
            <a:ext cx="2103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D1C30"/>
                </a:solidFill>
                <a:latin typeface="Aptos"/>
              </a:rPr>
              <a:t>Implemented rule types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160520"/>
            <a:ext cx="2148840" cy="292608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10812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Regex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4160520"/>
            <a:ext cx="2148840" cy="292608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210812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Required field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4160520"/>
            <a:ext cx="2148840" cy="292608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210812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Response schema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4160520"/>
            <a:ext cx="2148840" cy="292608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4210812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HTTP method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617720"/>
            <a:ext cx="2148840" cy="292608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668012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Status 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4617720"/>
            <a:ext cx="2148840" cy="292608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4668012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Custom expression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4617720"/>
            <a:ext cx="2148840" cy="292608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668012"/>
            <a:ext cx="2148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Pagination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Compliance reports make quality actionable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2296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Validation results provide a score, severity context, affected endpoints, and suggested fixes.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057400"/>
            <a:ext cx="1920240" cy="1920240"/>
          </a:xfrm>
          <a:prstGeom prst="ellipse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606040"/>
            <a:ext cx="13258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75CDA5"/>
                </a:solidFill>
                <a:latin typeface="Aptos Display"/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127248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18273A"/>
                </a:solidFill>
                <a:latin typeface="Aptos"/>
              </a:rPr>
              <a:t>compliance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057400"/>
            <a:ext cx="1051560" cy="292608"/>
          </a:xfrm>
          <a:prstGeom prst="round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07692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12264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130552"/>
            <a:ext cx="1005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violations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679192"/>
            <a:ext cx="1051560" cy="292608"/>
          </a:xfrm>
          <a:prstGeom prst="round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729484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18273A"/>
                </a:solidFill>
                <a:latin typeface="Aptos"/>
              </a:rP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34056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752344"/>
            <a:ext cx="1005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violations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300984"/>
            <a:ext cx="1051560" cy="292608"/>
          </a:xfrm>
          <a:prstGeom prst="round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351276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355848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374136"/>
            <a:ext cx="1005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violations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922776"/>
            <a:ext cx="1051560" cy="2926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3973068"/>
            <a:ext cx="10515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977639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995928"/>
            <a:ext cx="1005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violations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2057400"/>
            <a:ext cx="3886200" cy="914400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0920" y="2057400"/>
            <a:ext cx="64008" cy="914400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2088" y="2221992"/>
            <a:ext cx="3538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Endpoint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2624328"/>
            <a:ext cx="3538728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Which endpoints failed, and which rule caused it?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3246120"/>
            <a:ext cx="3886200" cy="914400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0920" y="3246120"/>
            <a:ext cx="64008" cy="914400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2088" y="3410712"/>
            <a:ext cx="3538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Suggested fix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62088" y="3813048"/>
            <a:ext cx="3538728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What should the owner change next?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4434840"/>
            <a:ext cx="3886200" cy="914400"/>
          </a:xfrm>
          <a:prstGeom prst="roundRect">
            <a:avLst/>
          </a:prstGeom>
          <a:solidFill>
            <a:srgbClr val="E1F7F8"/>
          </a:solidFill>
          <a:ln>
            <a:solidFill>
              <a:srgbClr val="E1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60920" y="4434840"/>
            <a:ext cx="64008" cy="91440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62088" y="4599431"/>
            <a:ext cx="35387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Scope and history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5001768"/>
            <a:ext cx="3538728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Run against the right team, system, environment, or source.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The dashboard gives management a live operating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9326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The dashboard brings inventory, change signals, broken sources, and recent sync activity into one surface.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25B8C4"/>
                </a:solidFill>
                <a:latin typeface="Aptos Display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9659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76272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75CDA5"/>
                </a:solidFill>
                <a:latin typeface="Aptos Display"/>
              </a:rP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78608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Systems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9659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76272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2BE4C"/>
                </a:solidFill>
                <a:latin typeface="Aptos Display"/>
              </a:rPr>
              <a:t>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78608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Environments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65960"/>
            <a:ext cx="2331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59" y="2176272"/>
            <a:ext cx="12801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F26F5C"/>
                </a:solidFill>
                <a:latin typeface="Aptos Display"/>
              </a:rPr>
              <a:t>1,248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2578608"/>
            <a:ext cx="1371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6400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2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73A"/>
                </a:solidFill>
                <a:latin typeface="Aptos Display"/>
              </a:rPr>
              <a:t>Recent sync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886200"/>
            <a:ext cx="3017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Payment API /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886200"/>
            <a:ext cx="1097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5CDA5"/>
                </a:solidFill>
                <a:latin typeface="Aptos"/>
              </a:rPr>
              <a:t>Success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78808"/>
            <a:ext cx="3017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Orders API /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178808"/>
            <a:ext cx="1097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BE4C"/>
                </a:solidFill>
                <a:latin typeface="Aptos"/>
              </a:rPr>
              <a:t>Modified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71416"/>
            <a:ext cx="301752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8273A"/>
                </a:solidFill>
                <a:latin typeface="Aptos"/>
              </a:rPr>
              <a:t>Identity API / Staging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471416"/>
            <a:ext cx="10972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6F5C"/>
                </a:solidFill>
                <a:latin typeface="Aptos"/>
              </a:rPr>
              <a:t>Broken URL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3246120"/>
            <a:ext cx="3977639" cy="1600200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520440"/>
            <a:ext cx="155448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CHANGE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886200"/>
            <a:ext cx="3200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+18 new  ·  6 modified  ·  2 deleted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343400"/>
            <a:ext cx="3063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BFD0D9"/>
                </a:solidFill>
                <a:latin typeface="Aptos"/>
              </a:rPr>
              <a:t>A management view of API inventory health and movement.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ORGANIZATIONAL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The platform supports different stakeholders with one shared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461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075688"/>
            <a:ext cx="621792" cy="621792"/>
          </a:xfrm>
          <a:prstGeom prst="ellipse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62179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1C30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5740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14016"/>
            <a:ext cx="1965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discover, run, generate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828800"/>
            <a:ext cx="32461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81727" y="2075688"/>
            <a:ext cx="621792" cy="621792"/>
          </a:xfrm>
          <a:prstGeom prst="ellipse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2221992"/>
            <a:ext cx="62179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1C30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05740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API owners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414016"/>
            <a:ext cx="1965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publish, share, track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2461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30768" y="2075688"/>
            <a:ext cx="621792" cy="621792"/>
          </a:xfrm>
          <a:prstGeom prst="ellipse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2221992"/>
            <a:ext cx="62179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1C30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5740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Architects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14016"/>
            <a:ext cx="1965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see structure, standards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29000"/>
            <a:ext cx="32461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675887"/>
            <a:ext cx="621792" cy="621792"/>
          </a:xfrm>
          <a:prstGeom prst="ellipse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822191"/>
            <a:ext cx="62179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1C30"/>
                </a:solidFill>
                <a:latin typeface="Aptos Display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65760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014215"/>
            <a:ext cx="1965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validate behavior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429000"/>
            <a:ext cx="32461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81727" y="3675887"/>
            <a:ext cx="621792" cy="621792"/>
          </a:xfrm>
          <a:prstGeom prst="ellipse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7" y="3822191"/>
            <a:ext cx="62179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1C30"/>
                </a:solidFill>
                <a:latin typeface="Aptos Display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5760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014215"/>
            <a:ext cx="1965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rules, scores, findings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429000"/>
            <a:ext cx="324612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30768" y="3675887"/>
            <a:ext cx="621792" cy="621792"/>
          </a:xfrm>
          <a:prstGeom prst="ellipse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3822191"/>
            <a:ext cx="621792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D1C30"/>
                </a:solidFill>
                <a:latin typeface="Aptos Display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657600"/>
            <a:ext cx="1965960" cy="2468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273A"/>
                </a:solidFill>
                <a:latin typeface="Aptos Display"/>
              </a:rPr>
              <a:t>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014215"/>
            <a:ext cx="19659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7E"/>
                </a:solidFill>
                <a:latin typeface="Aptos"/>
              </a:rPr>
              <a:t>inventory, movement,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0D1C30"/>
                </a:solidFill>
                <a:latin typeface="Aptos Display"/>
              </a:rPr>
              <a:t>One catalog, multiple decisions: build, consume, assure, govern, and prioritize.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END-TO-END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A new API can move from release to governed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A3B2C1"/>
                </a:solidFill>
                <a:latin typeface="Aptos"/>
              </a:rPr>
              <a:t>TWK ENDPOINTS HUB  /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1D3DD"/>
                </a:solidFill>
                <a:latin typeface="Aptos"/>
              </a:rPr>
              <a:t>Example: a new Payment API is released and becomes usable across the organization.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2011680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0370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Team owns
Payment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432304"/>
            <a:ext cx="658368" cy="0"/>
          </a:xfrm>
          <a:prstGeom prst="line">
            <a:avLst/>
          </a:prstGeom>
          <a:ln w="17780">
            <a:solidFill>
              <a:srgbClr val="25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83280" y="205740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057400"/>
            <a:ext cx="2011680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20370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Swagger
syncs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2432304"/>
            <a:ext cx="658368" cy="0"/>
          </a:xfrm>
          <a:prstGeom prst="line">
            <a:avLst/>
          </a:prstGeom>
          <a:ln w="17780">
            <a:solidFill>
              <a:srgbClr val="75CD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05740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057400"/>
            <a:ext cx="2011680" cy="54864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20370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Endpoint
appears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0" y="2432304"/>
            <a:ext cx="658367" cy="0"/>
          </a:xfrm>
          <a:prstGeom prst="line">
            <a:avLst/>
          </a:prstGeom>
          <a:ln w="17780">
            <a:solidFill>
              <a:srgbClr val="F2B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52560" y="205740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2057400"/>
            <a:ext cx="201168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220370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Developer
finds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7472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2011680" cy="54864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62102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Auth +
test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3849624"/>
            <a:ext cx="658368" cy="0"/>
          </a:xfrm>
          <a:prstGeom prst="line">
            <a:avLst/>
          </a:prstGeom>
          <a:ln w="17780">
            <a:solidFill>
              <a:srgbClr val="25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83280" y="347472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3474720"/>
            <a:ext cx="2011680" cy="54864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6432" y="362102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Share with
consumer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4960" y="3849624"/>
            <a:ext cx="658368" cy="0"/>
          </a:xfrm>
          <a:prstGeom prst="line">
            <a:avLst/>
          </a:prstGeom>
          <a:ln w="17780">
            <a:solidFill>
              <a:srgbClr val="75CD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17920" y="347472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474720"/>
            <a:ext cx="2011680" cy="54864"/>
          </a:xfrm>
          <a:prstGeom prst="rect">
            <a:avLst/>
          </a:prstGeom>
          <a:solidFill>
            <a:srgbClr val="F2BE4C"/>
          </a:solidFill>
          <a:ln>
            <a:solidFill>
              <a:srgbClr val="F2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362102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Change is
tracked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0" y="3849624"/>
            <a:ext cx="658367" cy="0"/>
          </a:xfrm>
          <a:prstGeom prst="line">
            <a:avLst/>
          </a:prstGeom>
          <a:ln w="17780">
            <a:solidFill>
              <a:srgbClr val="F2BE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52560" y="3474720"/>
            <a:ext cx="2011680" cy="749808"/>
          </a:xfrm>
          <a:prstGeom prst="round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52560" y="3474720"/>
            <a:ext cx="2011680" cy="54864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2" y="3621024"/>
            <a:ext cx="1865376" cy="56692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8273A"/>
                </a:solidFill>
                <a:latin typeface="Aptos"/>
              </a:rPr>
              <a:t>Governance
validates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The story is continuous: source → visibility → action → collaboration → assurance.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solidFill>
              <a:srgbClr val="F7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B8C4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6F5C"/>
                </a:solidFill>
                <a:latin typeface="Aptos"/>
              </a:rPr>
              <a:t>PRODUCT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D1C30"/>
                </a:solidFill>
                <a:latin typeface="Aptos Display"/>
              </a:rPr>
              <a:t>What is implemented today, and what remains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5B6C7E"/>
                </a:solidFill>
                <a:latin typeface="Aptos"/>
              </a:rPr>
              <a:t>TWK ENDPOINTS HUB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B6C7E"/>
                </a:solidFill>
                <a:latin typeface="Aptos"/>
              </a:rPr>
              <a:t>The current codebase supports a broad working platform. The remaining gaps are opportunities, not current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257800" cy="3246120"/>
          </a:xfrm>
          <a:prstGeom prst="roundRect">
            <a:avLst/>
          </a:prstGeom>
          <a:solidFill>
            <a:srgbClr val="E5F7ED"/>
          </a:solidFill>
          <a:ln>
            <a:solidFill>
              <a:srgbClr val="E5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64008" cy="3246120"/>
          </a:xfrm>
          <a:prstGeom prst="rect">
            <a:avLst/>
          </a:prstGeom>
          <a:solidFill>
            <a:srgbClr val="75CDA5"/>
          </a:solidFill>
          <a:ln>
            <a:solidFill>
              <a:srgbClr val="75C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30552"/>
            <a:ext cx="49103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8273A"/>
                </a:solidFill>
                <a:latin typeface="Aptos Display"/>
              </a:rPr>
              <a:t>Implemented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32888"/>
            <a:ext cx="4910328" cy="2578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Authentication and RBAC
Teams → systems → environments
Endpoint catalog and rich metadata
Swagger sync, schedules, and change logs
Request runner + six auth profile types
Favorites, sharing, notifications
Code generation and export
Governance rules, validation, compliance reports
Dashboard, embedded tests, bilingual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257800" cy="3246120"/>
          </a:xfrm>
          <a:prstGeom prst="roundRect">
            <a:avLst/>
          </a:prstGeom>
          <a:solidFill>
            <a:srgbClr val="FFEBE7"/>
          </a:solidFill>
          <a:ln>
            <a:solidFill>
              <a:srgbClr val="FF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65960"/>
            <a:ext cx="64008" cy="3246120"/>
          </a:xfrm>
          <a:prstGeom prst="rect">
            <a:avLst/>
          </a:prstGeom>
          <a:solidFill>
            <a:srgbClr val="F26F5C"/>
          </a:solidFill>
          <a:ln>
            <a:solidFill>
              <a:srgbClr val="F26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30552"/>
            <a:ext cx="491032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8273A"/>
                </a:solidFill>
                <a:latin typeface="Aptos Display"/>
              </a:rPr>
              <a:t>Future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32888"/>
            <a:ext cx="4910328" cy="2578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Automated unit / E2E test coverage
Usage analytics and API performance views
Retention, backup, and bulk data management
CI/CD, gateway, Slack, Teams, or Jira integrations
More background job types
Webhooks and advanced lifecycle management
Breaking-change and deprecation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D1C30"/>
                </a:solidFill>
                <a:latin typeface="Aptos Display"/>
              </a:rPr>
              <a:t>Current capability claims are grounded in frontend and backend evidence; future items are clearly separated.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25B8C4"/>
                </a:solidFill>
                <a:latin typeface="Aptos"/>
              </a:rPr>
              <a:t>EXECUTIVE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2648"/>
            <a:ext cx="110642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From fragmented API knowledge to organizational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6446520"/>
            <a:ext cx="14173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1">
                <a:solidFill>
                  <a:srgbClr val="A3B2C1"/>
                </a:solidFill>
                <a:latin typeface="Aptos"/>
              </a:rPr>
              <a:t>TWK ENDPOINTS HUB  /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813816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TWK Endpoints Hub makes APIs easier to find, easier to use, easier to change, and easier to govern.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8C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24912"/>
            <a:ext cx="4937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Discover APIs from one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75CDA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27832"/>
            <a:ext cx="4937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Keep the catalog synchronized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BE4C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30752"/>
            <a:ext cx="4937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Test with reusable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26F5C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33672"/>
            <a:ext cx="4937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Track changes and collaborate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384048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8C4"/>
                </a:solidFill>
                <a:latin typeface="Apto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36592"/>
            <a:ext cx="4937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Apply measurable standards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514600"/>
            <a:ext cx="3520440" cy="2286000"/>
          </a:xfrm>
          <a:prstGeom prst="roundRect">
            <a:avLst/>
          </a:prstGeom>
          <a:solidFill>
            <a:srgbClr val="0D1C30"/>
          </a:solidFill>
          <a:ln>
            <a:solidFill>
              <a:srgbClr val="25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880360"/>
            <a:ext cx="14630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B8C4"/>
                </a:solidFill>
                <a:latin typeface="Aptos"/>
              </a:rPr>
              <a:t>THE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337560"/>
            <a:ext cx="256032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Less searching.
Less repetition.
More visibility.
More confidence.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4C8D2"/>
                </a:solidFill>
                <a:latin typeface="Aptos"/>
              </a:rPr>
              <a:t>TWK Endpoints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